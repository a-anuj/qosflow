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"/>
      <p:bold r:id="rId23"/>
      <p:boldItalic r:id="rId24"/>
    </p:embeddedFont>
    <p:embeddedFont>
      <p:font typeface="Roboto Mono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072BCF-561A-42BA-98D9-2EAD10DEEFB6}">
  <a:tblStyle styleId="{7C072BCF-561A-42BA-98D9-2EAD10DEEFB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6b15cd6e_0_2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6b15cd6e_0_2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f66b15cd6e_0_2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66b15cd6e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66b15cd6e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f66b15cd6e_0_1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66b15cd6e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f66b15cd6e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f66b15cd6e_0_1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692640" y="100584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698480" y="155448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9326880" y="210312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0515600" y="265176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9774936" y="1088136"/>
            <a:ext cx="923544" cy="466344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9409176" y="2185416"/>
            <a:ext cx="1106424" cy="374904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>
            <a:off x="9866376" y="1170432"/>
            <a:ext cx="466344" cy="932688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QueueFlow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QoS-Aware Traffic Prioritization in Software-Defined Networks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822960" y="4160520"/>
            <a:ext cx="457200" cy="274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C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A6C4"/>
                </a:solidFill>
                <a:latin typeface="Calibri"/>
                <a:ea typeface="Calibri"/>
                <a:cs typeface="Calibri"/>
                <a:sym typeface="Calibri"/>
              </a:rPr>
              <a:t>SDN Networking Project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1234440"/>
            <a:ext cx="55778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Unmanaged networks treat every packet identically — first in, first out. A bandwidth-greedy bulk transfer can crowd out a latency-sensitive flow sharing the same link, not by consuming bandwidth it needs, but by forcing it to wait in queue behind bulk traffic.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40" y="34290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3840480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77240" y="3749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Increased jitter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4297680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777240" y="420624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Packet loss on real-time traffic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4754880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77240" y="466344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Degraded call/video quality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492240" y="1371600"/>
            <a:ext cx="5120640" cy="1005840"/>
          </a:xfrm>
          <a:prstGeom prst="roundRect">
            <a:avLst>
              <a:gd fmla="val 9091" name="adj"/>
            </a:avLst>
          </a:prstGeom>
          <a:solidFill>
            <a:srgbClr val="F4F7F9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675120" y="1463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Shared 10 Mbps link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720840" y="1874520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7178040" y="1874520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7635240" y="1874520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8092440" y="1874520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8549640" y="1874520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9006840" y="1874520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9464040" y="1874520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9921240" y="1874520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10378440" y="1874520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0835640" y="1874520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6675120" y="2148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Bulk download packets flood the pipe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92240" y="2743200"/>
            <a:ext cx="5120640" cy="1005840"/>
          </a:xfrm>
          <a:prstGeom prst="roundRect">
            <a:avLst>
              <a:gd fmla="val 9091" name="adj"/>
            </a:avLst>
          </a:prstGeom>
          <a:solidFill>
            <a:srgbClr val="F4F7F9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8138160" y="3246120"/>
            <a:ext cx="146304" cy="14630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4"/>
          <p:cNvCxnSpPr/>
          <p:nvPr/>
        </p:nvCxnSpPr>
        <p:spPr>
          <a:xfrm>
            <a:off x="7818120" y="3108960"/>
            <a:ext cx="320040" cy="137160"/>
          </a:xfrm>
          <a:prstGeom prst="straightConnector1">
            <a:avLst/>
          </a:prstGeom>
          <a:noFill/>
          <a:ln cap="flat" cmpd="sng" w="25400">
            <a:solidFill>
              <a:srgbClr val="C0392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8" name="Google Shape;58;p4"/>
          <p:cNvSpPr/>
          <p:nvPr/>
        </p:nvSpPr>
        <p:spPr>
          <a:xfrm>
            <a:off x="6675120" y="34290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Video call packet stuck behind them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492240" y="402336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→ Jitter, delay, and dropped packets on the call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QueueFlow  | 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" name="Google Shape;61;p4"/>
          <p:cNvGrpSpPr/>
          <p:nvPr/>
        </p:nvGrpSpPr>
        <p:grpSpPr>
          <a:xfrm>
            <a:off x="6263650" y="1329550"/>
            <a:ext cx="5486263" cy="4445089"/>
            <a:chOff x="0" y="0"/>
            <a:chExt cx="4114800" cy="3333900"/>
          </a:xfrm>
        </p:grpSpPr>
        <p:sp>
          <p:nvSpPr>
            <p:cNvPr id="62" name="Google Shape;62;p4"/>
            <p:cNvSpPr/>
            <p:nvPr/>
          </p:nvSpPr>
          <p:spPr>
            <a:xfrm>
              <a:off x="0" y="0"/>
              <a:ext cx="4114800" cy="3333900"/>
            </a:xfrm>
            <a:prstGeom prst="roundRect">
              <a:avLst>
                <a:gd fmla="val 1142" name="adj"/>
              </a:avLst>
            </a:prstGeom>
            <a:solidFill>
              <a:srgbClr val="F8FAFC"/>
            </a:solidFill>
            <a:ln cap="flat" cmpd="sng" w="190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4"/>
            <p:cNvSpPr txBox="1"/>
            <p:nvPr/>
          </p:nvSpPr>
          <p:spPr>
            <a:xfrm>
              <a:off x="228600" y="190500"/>
              <a:ext cx="3657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TCP blocking high-priority UDP packets</a:t>
              </a:r>
              <a:endParaRPr b="1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1143000" y="1190625"/>
              <a:ext cx="2286000" cy="857400"/>
            </a:xfrm>
            <a:prstGeom prst="roundRect">
              <a:avLst>
                <a:gd fmla="val 6666" name="adj"/>
              </a:avLst>
            </a:prstGeom>
            <a:solidFill>
              <a:srgbClr val="0F172A"/>
            </a:solidFill>
            <a:ln cap="flat" cmpd="sng" w="254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5" name="Google Shape;6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09738" y="1190625"/>
              <a:ext cx="9600" cy="8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81238" y="1190625"/>
              <a:ext cx="9600" cy="8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52738" y="1190625"/>
              <a:ext cx="9600" cy="8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4"/>
            <p:cNvSpPr/>
            <p:nvPr/>
          </p:nvSpPr>
          <p:spPr>
            <a:xfrm>
              <a:off x="3524250" y="1571625"/>
              <a:ext cx="2382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6000" y="0"/>
                  </a:moveTo>
                  <a:lnTo>
                    <a:pt x="120000" y="60000"/>
                  </a:lnTo>
                  <a:lnTo>
                    <a:pt x="96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254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4"/>
            <p:cNvSpPr txBox="1"/>
            <p:nvPr/>
          </p:nvSpPr>
          <p:spPr>
            <a:xfrm>
              <a:off x="3476625" y="1714500"/>
              <a:ext cx="428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Exit</a:t>
              </a:r>
              <a:endParaRPr b="1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0" name="Google Shape;70;p4"/>
            <p:cNvGrpSpPr/>
            <p:nvPr/>
          </p:nvGrpSpPr>
          <p:grpSpPr>
            <a:xfrm>
              <a:off x="2905125" y="1266825"/>
              <a:ext cx="476400" cy="705000"/>
              <a:chOff x="0" y="0"/>
              <a:chExt cx="476400" cy="705000"/>
            </a:xfrm>
          </p:grpSpPr>
          <p:sp>
            <p:nvSpPr>
              <p:cNvPr id="71" name="Google Shape;71;p4"/>
              <p:cNvSpPr/>
              <p:nvPr/>
            </p:nvSpPr>
            <p:spPr>
              <a:xfrm>
                <a:off x="0" y="0"/>
                <a:ext cx="476400" cy="705000"/>
              </a:xfrm>
              <a:prstGeom prst="roundRect">
                <a:avLst>
                  <a:gd fmla="val 8000" name="adj"/>
                </a:avLst>
              </a:prstGeom>
              <a:solidFill>
                <a:srgbClr val="EF4444">
                  <a:alpha val="90000"/>
                </a:srgbClr>
              </a:solidFill>
              <a:ln cap="flat" cmpd="sng" w="12700">
                <a:solidFill>
                  <a:srgbClr val="FCA5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4"/>
              <p:cNvSpPr txBox="1"/>
              <p:nvPr/>
            </p:nvSpPr>
            <p:spPr>
              <a:xfrm>
                <a:off x="0" y="0"/>
                <a:ext cx="476400" cy="7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BULK</a:t>
                </a:r>
                <a:endParaRPr b="1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FCA5A5"/>
                    </a:solidFill>
                    <a:latin typeface="Inter"/>
                    <a:ea typeface="Inter"/>
                    <a:cs typeface="Inter"/>
                    <a:sym typeface="Inter"/>
                  </a:rPr>
                  <a:t>Data 1</a:t>
                </a:r>
                <a:endParaRPr sz="800">
                  <a:solidFill>
                    <a:srgbClr val="FCA5A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>
              <a:off x="2333625" y="1266825"/>
              <a:ext cx="476400" cy="705000"/>
              <a:chOff x="0" y="0"/>
              <a:chExt cx="476400" cy="705000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0" y="0"/>
                <a:ext cx="476400" cy="705000"/>
              </a:xfrm>
              <a:prstGeom prst="roundRect">
                <a:avLst>
                  <a:gd fmla="val 8000" name="adj"/>
                </a:avLst>
              </a:prstGeom>
              <a:solidFill>
                <a:srgbClr val="EF4444">
                  <a:alpha val="90000"/>
                </a:srgbClr>
              </a:solidFill>
              <a:ln cap="flat" cmpd="sng" w="12700">
                <a:solidFill>
                  <a:srgbClr val="FCA5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4"/>
              <p:cNvSpPr txBox="1"/>
              <p:nvPr/>
            </p:nvSpPr>
            <p:spPr>
              <a:xfrm>
                <a:off x="0" y="0"/>
                <a:ext cx="476400" cy="7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BULK</a:t>
                </a:r>
                <a:endParaRPr b="1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FCA5A5"/>
                    </a:solidFill>
                    <a:latin typeface="Inter"/>
                    <a:ea typeface="Inter"/>
                    <a:cs typeface="Inter"/>
                    <a:sym typeface="Inter"/>
                  </a:rPr>
                  <a:t>Data 2</a:t>
                </a:r>
                <a:endParaRPr sz="800">
                  <a:solidFill>
                    <a:srgbClr val="FCA5A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6" name="Google Shape;76;p4"/>
            <p:cNvGrpSpPr/>
            <p:nvPr/>
          </p:nvGrpSpPr>
          <p:grpSpPr>
            <a:xfrm>
              <a:off x="1762125" y="1266825"/>
              <a:ext cx="476400" cy="705000"/>
              <a:chOff x="0" y="0"/>
              <a:chExt cx="476400" cy="705000"/>
            </a:xfrm>
          </p:grpSpPr>
          <p:sp>
            <p:nvSpPr>
              <p:cNvPr id="77" name="Google Shape;77;p4"/>
              <p:cNvSpPr/>
              <p:nvPr/>
            </p:nvSpPr>
            <p:spPr>
              <a:xfrm>
                <a:off x="0" y="0"/>
                <a:ext cx="476400" cy="705000"/>
              </a:xfrm>
              <a:prstGeom prst="roundRect">
                <a:avLst>
                  <a:gd fmla="val 8000" name="adj"/>
                </a:avLst>
              </a:prstGeom>
              <a:solidFill>
                <a:srgbClr val="EF4444">
                  <a:alpha val="90000"/>
                </a:srgbClr>
              </a:solidFill>
              <a:ln cap="flat" cmpd="sng" w="12700">
                <a:solidFill>
                  <a:srgbClr val="FCA5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4"/>
              <p:cNvSpPr txBox="1"/>
              <p:nvPr/>
            </p:nvSpPr>
            <p:spPr>
              <a:xfrm>
                <a:off x="0" y="0"/>
                <a:ext cx="476400" cy="7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BULK</a:t>
                </a:r>
                <a:endParaRPr b="1" sz="90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FCA5A5"/>
                    </a:solidFill>
                    <a:latin typeface="Inter"/>
                    <a:ea typeface="Inter"/>
                    <a:cs typeface="Inter"/>
                    <a:sym typeface="Inter"/>
                  </a:rPr>
                  <a:t>Data 3</a:t>
                </a:r>
                <a:endParaRPr sz="800">
                  <a:solidFill>
                    <a:srgbClr val="FCA5A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9" name="Google Shape;79;p4"/>
            <p:cNvGrpSpPr/>
            <p:nvPr/>
          </p:nvGrpSpPr>
          <p:grpSpPr>
            <a:xfrm>
              <a:off x="1190625" y="1266825"/>
              <a:ext cx="476400" cy="705000"/>
              <a:chOff x="0" y="0"/>
              <a:chExt cx="476400" cy="705000"/>
            </a:xfrm>
          </p:grpSpPr>
          <p:sp>
            <p:nvSpPr>
              <p:cNvPr id="80" name="Google Shape;80;p4"/>
              <p:cNvSpPr/>
              <p:nvPr/>
            </p:nvSpPr>
            <p:spPr>
              <a:xfrm>
                <a:off x="0" y="0"/>
                <a:ext cx="476400" cy="705000"/>
              </a:xfrm>
              <a:prstGeom prst="roundRect">
                <a:avLst>
                  <a:gd fmla="val 8000" name="adj"/>
                </a:avLst>
              </a:prstGeom>
              <a:solidFill>
                <a:srgbClr val="1E293B"/>
              </a:solidFill>
              <a:ln cap="flat" cmpd="sng" w="12700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4"/>
              <p:cNvSpPr/>
              <p:nvPr/>
            </p:nvSpPr>
            <p:spPr>
              <a:xfrm>
                <a:off x="85725" y="200025"/>
                <a:ext cx="304800" cy="304800"/>
              </a:xfrm>
              <a:prstGeom prst="ellipse">
                <a:avLst/>
              </a:prstGeom>
              <a:solidFill>
                <a:srgbClr val="10B981"/>
              </a:solidFill>
              <a:ln cap="flat" cmpd="sng" w="1907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4"/>
              <p:cNvSpPr txBox="1"/>
              <p:nvPr/>
            </p:nvSpPr>
            <p:spPr>
              <a:xfrm>
                <a:off x="0" y="0"/>
                <a:ext cx="476400" cy="7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VoIP</a:t>
                </a:r>
                <a:endParaRPr sz="1867"/>
              </a:p>
            </p:txBody>
          </p:sp>
        </p:grpSp>
        <p:pic>
          <p:nvPicPr>
            <p:cNvPr id="83" name="Google Shape;83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6725" y="800100"/>
              <a:ext cx="590700" cy="590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4" name="Google Shape;84;p4"/>
            <p:cNvGrpSpPr/>
            <p:nvPr/>
          </p:nvGrpSpPr>
          <p:grpSpPr>
            <a:xfrm>
              <a:off x="285750" y="571500"/>
              <a:ext cx="381000" cy="381000"/>
              <a:chOff x="0" y="0"/>
              <a:chExt cx="381000" cy="381000"/>
            </a:xfrm>
          </p:grpSpPr>
          <p:sp>
            <p:nvSpPr>
              <p:cNvPr id="85" name="Google Shape;85;p4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EF2F2"/>
              </a:solidFill>
              <a:ln cap="flat" cmpd="sng" w="12700">
                <a:solidFill>
                  <a:srgbClr val="EF444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114300" y="133350"/>
                <a:ext cx="1524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  <a:moveTo>
                      <a:pt x="30000" y="30000"/>
                    </a:moveTo>
                    <a:lnTo>
                      <a:pt x="90000" y="30000"/>
                    </a:lnTo>
                    <a:moveTo>
                      <a:pt x="30000" y="60000"/>
                    </a:moveTo>
                    <a:lnTo>
                      <a:pt x="90000" y="60000"/>
                    </a:lnTo>
                    <a:moveTo>
                      <a:pt x="30000" y="90000"/>
                    </a:moveTo>
                    <a:lnTo>
                      <a:pt x="60000" y="9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75">
                <a:solidFill>
                  <a:srgbClr val="EF444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7" name="Google Shape;87;p4"/>
            <p:cNvSpPr txBox="1"/>
            <p:nvPr/>
          </p:nvSpPr>
          <p:spPr>
            <a:xfrm>
              <a:off x="142875" y="10001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Movie DL</a:t>
              </a:r>
              <a:endParaRPr b="1" sz="85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(Bulk Transfer)</a:t>
              </a:r>
              <a:endParaRPr sz="7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88" name="Google Shape;88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6725" y="1847850"/>
              <a:ext cx="590700" cy="590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9" name="Google Shape;89;p4"/>
            <p:cNvGrpSpPr/>
            <p:nvPr/>
          </p:nvGrpSpPr>
          <p:grpSpPr>
            <a:xfrm>
              <a:off x="285750" y="2286000"/>
              <a:ext cx="381000" cy="381000"/>
              <a:chOff x="0" y="0"/>
              <a:chExt cx="381000" cy="381000"/>
            </a:xfrm>
          </p:grpSpPr>
          <p:sp>
            <p:nvSpPr>
              <p:cNvPr id="90" name="Google Shape;90;p4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ECFDF5"/>
              </a:solidFill>
              <a:ln cap="flat" cmpd="sng" w="12700">
                <a:solidFill>
                  <a:srgbClr val="10B98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133350" y="133350"/>
                <a:ext cx="1143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80000" y="0"/>
                    </a:lnTo>
                    <a:lnTo>
                      <a:pt x="120000" y="5000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  <a:moveTo>
                      <a:pt x="40000" y="60000"/>
                    </a:moveTo>
                    <a:cubicBezTo>
                      <a:pt x="40000" y="71046"/>
                      <a:pt x="48954" y="80000"/>
                      <a:pt x="60000" y="80000"/>
                    </a:cubicBezTo>
                    <a:cubicBezTo>
                      <a:pt x="71046" y="80000"/>
                      <a:pt x="80000" y="71046"/>
                      <a:pt x="80000" y="60000"/>
                    </a:cubicBezTo>
                    <a:cubicBezTo>
                      <a:pt x="80000" y="48954"/>
                      <a:pt x="71046" y="40000"/>
                      <a:pt x="60000" y="40000"/>
                    </a:cubicBezTo>
                    <a:cubicBezTo>
                      <a:pt x="48954" y="40000"/>
                      <a:pt x="40000" y="48954"/>
                      <a:pt x="40000" y="60000"/>
                    </a:cubic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75">
                <a:solidFill>
                  <a:srgbClr val="10B98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2" name="Google Shape;92;p4"/>
            <p:cNvSpPr txBox="1"/>
            <p:nvPr/>
          </p:nvSpPr>
          <p:spPr>
            <a:xfrm>
              <a:off x="142875" y="27146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Video Call</a:t>
              </a:r>
              <a:endParaRPr b="1" sz="85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(VoIP/Jitter-Sens.)</a:t>
              </a:r>
              <a:endParaRPr sz="7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1762125" y="904875"/>
              <a:ext cx="1619100" cy="1428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40000"/>
                  </a:lnTo>
                  <a:lnTo>
                    <a:pt x="60000" y="40000"/>
                  </a:lnTo>
                  <a:lnTo>
                    <a:pt x="60000" y="0"/>
                  </a:lnTo>
                  <a:moveTo>
                    <a:pt x="60000" y="40000"/>
                  </a:moveTo>
                  <a:lnTo>
                    <a:pt x="120000" y="4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27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 txBox="1"/>
            <p:nvPr/>
          </p:nvSpPr>
          <p:spPr>
            <a:xfrm>
              <a:off x="1714500" y="666750"/>
              <a:ext cx="1714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Bulk Buffer Flooding</a:t>
              </a:r>
              <a:endParaRPr b="1" sz="9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95" name="Google Shape;95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23988" y="2190750"/>
              <a:ext cx="180900" cy="3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4"/>
            <p:cNvSpPr/>
            <p:nvPr/>
          </p:nvSpPr>
          <p:spPr>
            <a:xfrm>
              <a:off x="1409700" y="2171700"/>
              <a:ext cx="38100" cy="381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4"/>
            <p:cNvSpPr txBox="1"/>
            <p:nvPr/>
          </p:nvSpPr>
          <p:spPr>
            <a:xfrm>
              <a:off x="1047750" y="257175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Starved Packet</a:t>
              </a:r>
              <a:endParaRPr b="1" sz="8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Waiting behind queue</a:t>
              </a:r>
              <a:endParaRPr sz="7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142875" y="3067050"/>
              <a:ext cx="38292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4"/>
            <p:cNvSpPr txBox="1"/>
            <p:nvPr/>
          </p:nvSpPr>
          <p:spPr>
            <a:xfrm>
              <a:off x="228600" y="3124200"/>
              <a:ext cx="36576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FIFO Scheme: No Prioritization or QoS Rules Applied</a:t>
              </a:r>
              <a:endParaRPr b="0" sz="8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5"/>
          <p:cNvGrpSpPr/>
          <p:nvPr/>
        </p:nvGrpSpPr>
        <p:grpSpPr>
          <a:xfrm>
            <a:off x="548640" y="365760"/>
            <a:ext cx="11064300" cy="640200"/>
            <a:chOff x="0" y="0"/>
            <a:chExt cx="11064300" cy="640200"/>
          </a:xfrm>
        </p:grpSpPr>
        <p:sp>
          <p:nvSpPr>
            <p:cNvPr id="106" name="Google Shape;106;p5"/>
            <p:cNvSpPr/>
            <p:nvPr/>
          </p:nvSpPr>
          <p:spPr>
            <a:xfrm>
              <a:off x="0" y="0"/>
              <a:ext cx="11064300" cy="64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5"/>
            <p:cNvSpPr txBox="1"/>
            <p:nvPr/>
          </p:nvSpPr>
          <p:spPr>
            <a:xfrm>
              <a:off x="0" y="0"/>
              <a:ext cx="110643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21295C"/>
                  </a:solidFill>
                  <a:latin typeface="Cambria"/>
                  <a:ea typeface="Cambria"/>
                  <a:cs typeface="Cambria"/>
                  <a:sym typeface="Cambria"/>
                </a:rPr>
                <a:t>The Solution: SDN-Based QoS</a:t>
              </a:r>
              <a:endParaRPr b="1" sz="30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08" name="Google Shape;108;p5"/>
          <p:cNvGrpSpPr/>
          <p:nvPr/>
        </p:nvGrpSpPr>
        <p:grpSpPr>
          <a:xfrm>
            <a:off x="548640" y="1188720"/>
            <a:ext cx="10972800" cy="548700"/>
            <a:chOff x="0" y="0"/>
            <a:chExt cx="10972800" cy="548700"/>
          </a:xfrm>
        </p:grpSpPr>
        <p:sp>
          <p:nvSpPr>
            <p:cNvPr id="109" name="Google Shape;109;p5"/>
            <p:cNvSpPr/>
            <p:nvPr/>
          </p:nvSpPr>
          <p:spPr>
            <a:xfrm>
              <a:off x="0" y="0"/>
              <a:ext cx="10972800" cy="54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5"/>
            <p:cNvSpPr txBox="1"/>
            <p:nvPr/>
          </p:nvSpPr>
          <p:spPr>
            <a:xfrm>
              <a:off x="0" y="0"/>
              <a:ext cx="10972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Our framework dynamically classifies network traffic and prioritizes latency-sensitive UDP flows over bandwidth-intensive TCP transfers.</a:t>
              </a:r>
              <a:endParaRPr b="0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5"/>
          <p:cNvGrpSpPr/>
          <p:nvPr/>
        </p:nvGrpSpPr>
        <p:grpSpPr>
          <a:xfrm>
            <a:off x="548640" y="2103120"/>
            <a:ext cx="3429000" cy="2667000"/>
            <a:chOff x="0" y="0"/>
            <a:chExt cx="3429000" cy="2667000"/>
          </a:xfrm>
        </p:grpSpPr>
        <p:sp>
          <p:nvSpPr>
            <p:cNvPr id="112" name="Google Shape;112;p5"/>
            <p:cNvSpPr/>
            <p:nvPr/>
          </p:nvSpPr>
          <p:spPr>
            <a:xfrm>
              <a:off x="0" y="0"/>
              <a:ext cx="3429000" cy="2667000"/>
            </a:xfrm>
            <a:prstGeom prst="roundRect">
              <a:avLst>
                <a:gd fmla="val 2857" name="adj"/>
              </a:avLst>
            </a:prstGeom>
            <a:solidFill>
              <a:srgbClr val="F4F7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274320" y="274320"/>
              <a:ext cx="548700" cy="5487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 txBox="1"/>
            <p:nvPr/>
          </p:nvSpPr>
          <p:spPr>
            <a:xfrm>
              <a:off x="274320" y="274320"/>
              <a:ext cx="5487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2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sz="132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5"/>
            <p:cNvSpPr txBox="1"/>
            <p:nvPr/>
          </p:nvSpPr>
          <p:spPr>
            <a:xfrm>
              <a:off x="274320" y="960120"/>
              <a:ext cx="28803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Traffic Classification</a:t>
              </a:r>
              <a:endParaRPr b="1" sz="16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5"/>
            <p:cNvSpPr txBox="1"/>
            <p:nvPr/>
          </p:nvSpPr>
          <p:spPr>
            <a:xfrm>
              <a:off x="274320" y="1371600"/>
              <a:ext cx="2880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5A6570"/>
                  </a:solidFill>
                  <a:latin typeface="Calibri"/>
                  <a:ea typeface="Calibri"/>
                  <a:cs typeface="Calibri"/>
                  <a:sym typeface="Calibri"/>
                </a:rPr>
                <a:t>Using a RYU controller, programmatic OpenFlow rules inspect headers to dynamically distinguish between real-time and bulk transfers.</a:t>
              </a:r>
              <a:endParaRPr b="0" sz="1250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5"/>
          <p:cNvGrpSpPr/>
          <p:nvPr/>
        </p:nvGrpSpPr>
        <p:grpSpPr>
          <a:xfrm>
            <a:off x="4381500" y="2103120"/>
            <a:ext cx="3429000" cy="2667000"/>
            <a:chOff x="0" y="0"/>
            <a:chExt cx="3429000" cy="2667000"/>
          </a:xfrm>
        </p:grpSpPr>
        <p:sp>
          <p:nvSpPr>
            <p:cNvPr id="118" name="Google Shape;118;p5"/>
            <p:cNvSpPr/>
            <p:nvPr/>
          </p:nvSpPr>
          <p:spPr>
            <a:xfrm>
              <a:off x="0" y="0"/>
              <a:ext cx="3429000" cy="2667000"/>
            </a:xfrm>
            <a:prstGeom prst="roundRect">
              <a:avLst>
                <a:gd fmla="val 2857" name="adj"/>
              </a:avLst>
            </a:prstGeom>
            <a:solidFill>
              <a:srgbClr val="F4F7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274320" y="274320"/>
              <a:ext cx="548700" cy="548700"/>
            </a:xfrm>
            <a:prstGeom prst="ellipse">
              <a:avLst/>
            </a:prstGeom>
            <a:solidFill>
              <a:srgbClr val="1C729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5"/>
            <p:cNvSpPr txBox="1"/>
            <p:nvPr/>
          </p:nvSpPr>
          <p:spPr>
            <a:xfrm>
              <a:off x="274320" y="274320"/>
              <a:ext cx="5487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2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sz="132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5"/>
            <p:cNvSpPr txBox="1"/>
            <p:nvPr/>
          </p:nvSpPr>
          <p:spPr>
            <a:xfrm>
              <a:off x="274320" y="960120"/>
              <a:ext cx="28803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Dedicated Queuing</a:t>
              </a:r>
              <a:endParaRPr b="1" sz="16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5"/>
            <p:cNvSpPr txBox="1"/>
            <p:nvPr/>
          </p:nvSpPr>
          <p:spPr>
            <a:xfrm>
              <a:off x="274320" y="1371600"/>
              <a:ext cx="2880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5A6570"/>
                  </a:solidFill>
                  <a:latin typeface="Calibri"/>
                  <a:ea typeface="Calibri"/>
                  <a:cs typeface="Calibri"/>
                  <a:sym typeface="Calibri"/>
                </a:rPr>
                <a:t>Traffic is mapped to separated, dedicated egress queues configured directly on the bottleneck link, bypassing global FIFO queues.</a:t>
              </a:r>
              <a:endParaRPr b="0" sz="1250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5"/>
          <p:cNvGrpSpPr/>
          <p:nvPr/>
        </p:nvGrpSpPr>
        <p:grpSpPr>
          <a:xfrm>
            <a:off x="8214360" y="2103120"/>
            <a:ext cx="3429000" cy="2667000"/>
            <a:chOff x="0" y="0"/>
            <a:chExt cx="3429000" cy="2667000"/>
          </a:xfrm>
        </p:grpSpPr>
        <p:sp>
          <p:nvSpPr>
            <p:cNvPr id="124" name="Google Shape;124;p5"/>
            <p:cNvSpPr/>
            <p:nvPr/>
          </p:nvSpPr>
          <p:spPr>
            <a:xfrm>
              <a:off x="0" y="0"/>
              <a:ext cx="3429000" cy="2667000"/>
            </a:xfrm>
            <a:prstGeom prst="roundRect">
              <a:avLst>
                <a:gd fmla="val 2857" name="adj"/>
              </a:avLst>
            </a:prstGeom>
            <a:solidFill>
              <a:srgbClr val="F4F7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274320" y="274320"/>
              <a:ext cx="548700" cy="548700"/>
            </a:xfrm>
            <a:prstGeom prst="ellipse">
              <a:avLst/>
            </a:prstGeom>
            <a:solidFill>
              <a:srgbClr val="2129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5"/>
            <p:cNvSpPr txBox="1"/>
            <p:nvPr/>
          </p:nvSpPr>
          <p:spPr>
            <a:xfrm>
              <a:off x="274320" y="274320"/>
              <a:ext cx="5487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2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sz="132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5"/>
            <p:cNvSpPr txBox="1"/>
            <p:nvPr/>
          </p:nvSpPr>
          <p:spPr>
            <a:xfrm>
              <a:off x="274320" y="960120"/>
              <a:ext cx="28803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1295C"/>
                  </a:solidFill>
                  <a:latin typeface="Calibri"/>
                  <a:ea typeface="Calibri"/>
                  <a:cs typeface="Calibri"/>
                  <a:sym typeface="Calibri"/>
                </a:rPr>
                <a:t>Forwarding &amp; Limits</a:t>
              </a:r>
              <a:endParaRPr b="1" sz="16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5"/>
            <p:cNvSpPr txBox="1"/>
            <p:nvPr/>
          </p:nvSpPr>
          <p:spPr>
            <a:xfrm>
              <a:off x="274320" y="1371600"/>
              <a:ext cx="2880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5A6570"/>
                  </a:solidFill>
                  <a:latin typeface="Calibri"/>
                  <a:ea typeface="Calibri"/>
                  <a:cs typeface="Calibri"/>
                  <a:sym typeface="Calibri"/>
                </a:rPr>
                <a:t>Forward UDP on a high-priority queue with guaranteed bandwidth, while bulk TCP transfers are placed in a rate-limited, lower-priority queue.</a:t>
              </a:r>
              <a:endParaRPr b="0" sz="1250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5"/>
          <p:cNvGrpSpPr/>
          <p:nvPr/>
        </p:nvGrpSpPr>
        <p:grpSpPr>
          <a:xfrm>
            <a:off x="548640" y="5120640"/>
            <a:ext cx="11064300" cy="548700"/>
            <a:chOff x="0" y="0"/>
            <a:chExt cx="11064300" cy="548700"/>
          </a:xfrm>
        </p:grpSpPr>
        <p:sp>
          <p:nvSpPr>
            <p:cNvPr id="130" name="Google Shape;130;p5"/>
            <p:cNvSpPr/>
            <p:nvPr/>
          </p:nvSpPr>
          <p:spPr>
            <a:xfrm>
              <a:off x="0" y="0"/>
              <a:ext cx="11064300" cy="54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5"/>
            <p:cNvSpPr txBox="1"/>
            <p:nvPr/>
          </p:nvSpPr>
          <p:spPr>
            <a:xfrm>
              <a:off x="0" y="0"/>
              <a:ext cx="110643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1E8A5F"/>
                  </a:solidFill>
                  <a:latin typeface="Calibri"/>
                  <a:ea typeface="Calibri"/>
                  <a:cs typeface="Calibri"/>
                  <a:sym typeface="Calibri"/>
                </a:rPr>
                <a:t>This prevents TCP traffic from monopolizing the shared link, reducing queueing delay and jitter for UDP packets.</a:t>
              </a:r>
              <a:endParaRPr b="1" i="1" sz="1400">
                <a:solidFill>
                  <a:srgbClr val="1E8A5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5"/>
          <p:cNvGrpSpPr/>
          <p:nvPr/>
        </p:nvGrpSpPr>
        <p:grpSpPr>
          <a:xfrm>
            <a:off x="457200" y="6537960"/>
            <a:ext cx="5486400" cy="274200"/>
            <a:chOff x="0" y="0"/>
            <a:chExt cx="5486400" cy="274200"/>
          </a:xfrm>
        </p:grpSpPr>
        <p:sp>
          <p:nvSpPr>
            <p:cNvPr id="133" name="Google Shape;133;p5"/>
            <p:cNvSpPr/>
            <p:nvPr/>
          </p:nvSpPr>
          <p:spPr>
            <a:xfrm>
              <a:off x="0" y="0"/>
              <a:ext cx="54864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5"/>
            <p:cNvSpPr txBox="1"/>
            <p:nvPr/>
          </p:nvSpPr>
          <p:spPr>
            <a:xfrm>
              <a:off x="0" y="0"/>
              <a:ext cx="5486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6570"/>
                  </a:solidFill>
                  <a:latin typeface="Calibri"/>
                  <a:ea typeface="Calibri"/>
                  <a:cs typeface="Calibri"/>
                  <a:sym typeface="Calibri"/>
                </a:rPr>
                <a:t>QueueFlow | 03</a:t>
              </a:r>
              <a:endParaRPr b="0" sz="900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System Architecture &amp; Topology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937760" y="1234440"/>
            <a:ext cx="2286000" cy="640080"/>
          </a:xfrm>
          <a:prstGeom prst="roundRect">
            <a:avLst>
              <a:gd fmla="val 11429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4937760" y="12344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RYU Controller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2148840" y="1874520"/>
            <a:ext cx="0" cy="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44" name="Google Shape;144;p6"/>
          <p:cNvCxnSpPr/>
          <p:nvPr/>
        </p:nvCxnSpPr>
        <p:spPr>
          <a:xfrm>
            <a:off x="5852160" y="1874520"/>
            <a:ext cx="0" cy="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45" name="Google Shape;145;p6"/>
          <p:cNvCxnSpPr/>
          <p:nvPr/>
        </p:nvCxnSpPr>
        <p:spPr>
          <a:xfrm>
            <a:off x="9555480" y="1874520"/>
            <a:ext cx="0" cy="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46" name="Google Shape;146;p6"/>
          <p:cNvCxnSpPr/>
          <p:nvPr/>
        </p:nvCxnSpPr>
        <p:spPr>
          <a:xfrm>
            <a:off x="2148840" y="1554480"/>
            <a:ext cx="3931920" cy="594360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7" name="Google Shape;147;p6"/>
          <p:cNvCxnSpPr/>
          <p:nvPr/>
        </p:nvCxnSpPr>
        <p:spPr>
          <a:xfrm>
            <a:off x="6080760" y="187452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8" name="Google Shape;148;p6"/>
          <p:cNvCxnSpPr/>
          <p:nvPr/>
        </p:nvCxnSpPr>
        <p:spPr>
          <a:xfrm>
            <a:off x="6080760" y="1600200"/>
            <a:ext cx="4023360" cy="502920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9" name="Google Shape;149;p6"/>
          <p:cNvSpPr/>
          <p:nvPr/>
        </p:nvSpPr>
        <p:spPr>
          <a:xfrm>
            <a:off x="1463040" y="2103120"/>
            <a:ext cx="1920240" cy="685800"/>
          </a:xfrm>
          <a:prstGeom prst="roundRect">
            <a:avLst>
              <a:gd fmla="val 1066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1463040" y="210312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166360" y="2103120"/>
            <a:ext cx="1920240" cy="685800"/>
          </a:xfrm>
          <a:prstGeom prst="roundRect">
            <a:avLst>
              <a:gd fmla="val 1066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5166360" y="210312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869680" y="2103120"/>
            <a:ext cx="1920240" cy="685800"/>
          </a:xfrm>
          <a:prstGeom prst="roundRect">
            <a:avLst>
              <a:gd fmla="val 1066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8869680" y="210312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6"/>
          <p:cNvCxnSpPr/>
          <p:nvPr/>
        </p:nvCxnSpPr>
        <p:spPr>
          <a:xfrm>
            <a:off x="3383280" y="2446020"/>
            <a:ext cx="1783080" cy="0"/>
          </a:xfrm>
          <a:prstGeom prst="straightConnector1">
            <a:avLst/>
          </a:prstGeom>
          <a:noFill/>
          <a:ln cap="flat" cmpd="sng" w="317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6"/>
          <p:cNvSpPr/>
          <p:nvPr/>
        </p:nvSpPr>
        <p:spPr>
          <a:xfrm>
            <a:off x="3429000" y="2514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s1-eth3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389120" y="2514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s2-eth3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383280" y="1810512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10 Mbps bottleneck — QoS queues live here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6"/>
          <p:cNvCxnSpPr/>
          <p:nvPr/>
        </p:nvCxnSpPr>
        <p:spPr>
          <a:xfrm>
            <a:off x="7086600" y="2446020"/>
            <a:ext cx="1783080" cy="0"/>
          </a:xfrm>
          <a:prstGeom prst="straightConnector1">
            <a:avLst/>
          </a:prstGeom>
          <a:noFill/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6"/>
          <p:cNvSpPr/>
          <p:nvPr/>
        </p:nvSpPr>
        <p:spPr>
          <a:xfrm>
            <a:off x="7132320" y="2514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s2-eth4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092440" y="2514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s3-eth3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6"/>
          <p:cNvCxnSpPr/>
          <p:nvPr/>
        </p:nvCxnSpPr>
        <p:spPr>
          <a:xfrm flipH="1" rot="10800000">
            <a:off x="960120" y="2788920"/>
            <a:ext cx="777240" cy="777240"/>
          </a:xfrm>
          <a:prstGeom prst="straightConnector1">
            <a:avLst/>
          </a:prstGeom>
          <a:noFill/>
          <a:ln cap="flat" cmpd="sng" w="1905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6"/>
          <p:cNvSpPr/>
          <p:nvPr/>
        </p:nvSpPr>
        <p:spPr>
          <a:xfrm>
            <a:off x="457200" y="3566160"/>
            <a:ext cx="1005840" cy="868680"/>
          </a:xfrm>
          <a:prstGeom prst="roundRect">
            <a:avLst>
              <a:gd fmla="val 7368" name="adj"/>
            </a:avLst>
          </a:prstGeom>
          <a:solidFill>
            <a:srgbClr val="F4F7F9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57200" y="3639312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57200" y="395020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10.0.0.1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57200" y="418795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s1-eth1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82880" y="45720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UDP 5001 — video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6"/>
          <p:cNvCxnSpPr/>
          <p:nvPr/>
        </p:nvCxnSpPr>
        <p:spPr>
          <a:xfrm flipH="1" rot="10800000">
            <a:off x="2331720" y="2788920"/>
            <a:ext cx="777240" cy="777240"/>
          </a:xfrm>
          <a:prstGeom prst="straightConnector1">
            <a:avLst/>
          </a:prstGeom>
          <a:noFill/>
          <a:ln cap="flat" cmpd="sng" w="1905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6"/>
          <p:cNvSpPr/>
          <p:nvPr/>
        </p:nvSpPr>
        <p:spPr>
          <a:xfrm>
            <a:off x="1828800" y="3566160"/>
            <a:ext cx="1005840" cy="868680"/>
          </a:xfrm>
          <a:prstGeom prst="roundRect">
            <a:avLst>
              <a:gd fmla="val 7368" name="adj"/>
            </a:avLst>
          </a:prstGeom>
          <a:solidFill>
            <a:srgbClr val="F4F7F9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1828800" y="3639312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h2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828800" y="395020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10.0.0.2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828800" y="418795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s1-eth2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554480" y="45720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TCP 5002 — bulk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6"/>
          <p:cNvCxnSpPr/>
          <p:nvPr/>
        </p:nvCxnSpPr>
        <p:spPr>
          <a:xfrm flipH="1" rot="10800000">
            <a:off x="4846320" y="2788920"/>
            <a:ext cx="594360" cy="777240"/>
          </a:xfrm>
          <a:prstGeom prst="straightConnector1">
            <a:avLst/>
          </a:prstGeom>
          <a:noFill/>
          <a:ln cap="flat" cmpd="sng" w="1905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6"/>
          <p:cNvSpPr/>
          <p:nvPr/>
        </p:nvSpPr>
        <p:spPr>
          <a:xfrm>
            <a:off x="4343400" y="3566160"/>
            <a:ext cx="1005840" cy="868680"/>
          </a:xfrm>
          <a:prstGeom prst="roundRect">
            <a:avLst>
              <a:gd fmla="val 7368" name="adj"/>
            </a:avLst>
          </a:prstGeom>
          <a:solidFill>
            <a:srgbClr val="F4F7F9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343400" y="3639312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h3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343400" y="395020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10.0.0.3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343400" y="418795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s2-eth1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069080" y="45720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8A5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E8A5F"/>
                </a:solidFill>
                <a:latin typeface="Calibri"/>
                <a:ea typeface="Calibri"/>
                <a:cs typeface="Calibri"/>
                <a:sym typeface="Calibri"/>
              </a:rPr>
              <a:t>receiver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 flipH="1" rot="10800000">
            <a:off x="6217920" y="2788920"/>
            <a:ext cx="594360" cy="777240"/>
          </a:xfrm>
          <a:prstGeom prst="straightConnector1">
            <a:avLst/>
          </a:prstGeom>
          <a:noFill/>
          <a:ln cap="flat" cmpd="sng" w="1905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5715000" y="3566160"/>
            <a:ext cx="1005840" cy="868680"/>
          </a:xfrm>
          <a:prstGeom prst="roundRect">
            <a:avLst>
              <a:gd fmla="val 7368" name="adj"/>
            </a:avLst>
          </a:prstGeom>
          <a:solidFill>
            <a:srgbClr val="F4F7F9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5715000" y="3639312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h4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715000" y="395020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10.0.0.4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715000" y="418795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s2-eth2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6"/>
          <p:cNvCxnSpPr/>
          <p:nvPr/>
        </p:nvCxnSpPr>
        <p:spPr>
          <a:xfrm flipH="1" rot="10800000">
            <a:off x="8549640" y="2788920"/>
            <a:ext cx="594360" cy="777240"/>
          </a:xfrm>
          <a:prstGeom prst="straightConnector1">
            <a:avLst/>
          </a:prstGeom>
          <a:noFill/>
          <a:ln cap="flat" cmpd="sng" w="1905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6"/>
          <p:cNvSpPr/>
          <p:nvPr/>
        </p:nvSpPr>
        <p:spPr>
          <a:xfrm>
            <a:off x="8046720" y="3566160"/>
            <a:ext cx="1005840" cy="868680"/>
          </a:xfrm>
          <a:prstGeom prst="roundRect">
            <a:avLst>
              <a:gd fmla="val 7368" name="adj"/>
            </a:avLst>
          </a:prstGeom>
          <a:solidFill>
            <a:srgbClr val="F4F7F9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8046720" y="3639312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h5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8046720" y="395020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10.0.0.5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8046720" y="418795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s3-eth1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6"/>
          <p:cNvCxnSpPr/>
          <p:nvPr/>
        </p:nvCxnSpPr>
        <p:spPr>
          <a:xfrm flipH="1" rot="10800000">
            <a:off x="9921240" y="2788920"/>
            <a:ext cx="594360" cy="777240"/>
          </a:xfrm>
          <a:prstGeom prst="straightConnector1">
            <a:avLst/>
          </a:prstGeom>
          <a:noFill/>
          <a:ln cap="flat" cmpd="sng" w="1905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6"/>
          <p:cNvSpPr/>
          <p:nvPr/>
        </p:nvSpPr>
        <p:spPr>
          <a:xfrm>
            <a:off x="9418320" y="3566160"/>
            <a:ext cx="1005840" cy="868680"/>
          </a:xfrm>
          <a:prstGeom prst="roundRect">
            <a:avLst>
              <a:gd fmla="val 7368" name="adj"/>
            </a:avLst>
          </a:prstGeom>
          <a:solidFill>
            <a:srgbClr val="F4F7F9"/>
          </a:solidFill>
          <a:ln cap="flat" cmpd="sng" w="12700">
            <a:solidFill>
              <a:srgbClr val="D8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9418320" y="3639312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h6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9418320" y="395020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10.0.0.6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9418320" y="418795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s3-eth2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6"/>
          <p:cNvCxnSpPr/>
          <p:nvPr/>
        </p:nvCxnSpPr>
        <p:spPr>
          <a:xfrm>
            <a:off x="548640" y="5623560"/>
            <a:ext cx="320040" cy="0"/>
          </a:xfrm>
          <a:prstGeom prst="straightConnector1">
            <a:avLst/>
          </a:prstGeom>
          <a:noFill/>
          <a:ln cap="flat" cmpd="sng" w="317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6"/>
          <p:cNvSpPr/>
          <p:nvPr/>
        </p:nvSpPr>
        <p:spPr>
          <a:xfrm>
            <a:off x="914400" y="54864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Bandwidth-capped bottleneck link (10 Mbps)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6"/>
          <p:cNvCxnSpPr/>
          <p:nvPr/>
        </p:nvCxnSpPr>
        <p:spPr>
          <a:xfrm>
            <a:off x="5394960" y="562356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8" name="Google Shape;198;p6"/>
          <p:cNvSpPr/>
          <p:nvPr/>
        </p:nvSpPr>
        <p:spPr>
          <a:xfrm>
            <a:off x="5760720" y="54864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OpenFlow control channel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48640" y="5897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All hosts on 10.0.0.0/24  ·  OpenFlow 1.3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QueueFlow  |  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204" y="0"/>
            <a:ext cx="1116849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/>
          <p:nvPr/>
        </p:nvSpPr>
        <p:spPr>
          <a:xfrm>
            <a:off x="548640" y="365760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Flow Rule Implementation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48640" y="1188720"/>
            <a:ext cx="5486400" cy="36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1. Automatic (via RYU controller code, qos_controller.py)</a:t>
            </a:r>
            <a:endParaRPr b="1" sz="1500">
              <a:solidFill>
                <a:srgbClr val="2129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48640" y="1691640"/>
            <a:ext cx="5143500" cy="1238400"/>
          </a:xfrm>
          <a:prstGeom prst="roundRect">
            <a:avLst>
              <a:gd fmla="val 4615" name="adj"/>
            </a:avLst>
          </a:prstGeom>
          <a:solidFill>
            <a:srgbClr val="F4F7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48640" y="1691640"/>
            <a:ext cx="76200" cy="1238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809625" y="1834515"/>
            <a:ext cx="4619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Table-miss Rule</a:t>
            </a:r>
            <a:endParaRPr b="1" sz="1400">
              <a:solidFill>
                <a:srgbClr val="2129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Installed automatically when each switch connects to establish the default pipeline.</a:t>
            </a:r>
            <a:endParaRPr b="0" sz="1150">
              <a:solidFill>
                <a:srgbClr val="5A65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48640" y="3215640"/>
            <a:ext cx="5143500" cy="2476500"/>
          </a:xfrm>
          <a:prstGeom prst="roundRect">
            <a:avLst>
              <a:gd fmla="val 2307" name="adj"/>
            </a:avLst>
          </a:prstGeom>
          <a:solidFill>
            <a:srgbClr val="F4F7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548640" y="3215640"/>
            <a:ext cx="76200" cy="2476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809625" y="3358515"/>
            <a:ext cx="46197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QoS Classification Rules</a:t>
            </a:r>
            <a:endParaRPr b="1" sz="1400">
              <a:solidFill>
                <a:srgbClr val="2129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Matches traffic on key ports to separate flows:</a:t>
            </a:r>
            <a:endParaRPr b="0" sz="1150">
              <a:solidFill>
                <a:srgbClr val="5A65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rgbClr val="5A6570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Matches on </a:t>
            </a:r>
            <a:r>
              <a:rPr b="1" lang="en-US" sz="1100">
                <a:solidFill>
                  <a:srgbClr val="21295C"/>
                </a:solidFill>
                <a:latin typeface="Courier New"/>
                <a:ea typeface="Courier New"/>
                <a:cs typeface="Courier New"/>
                <a:sym typeface="Courier New"/>
              </a:rPr>
              <a:t>udp_dst=5001</a:t>
            </a:r>
            <a:r>
              <a:rPr lang="en-US" sz="1100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lang="en-US" sz="1100">
                <a:solidFill>
                  <a:srgbClr val="21295C"/>
                </a:solidFill>
                <a:latin typeface="Courier New"/>
                <a:ea typeface="Courier New"/>
                <a:cs typeface="Courier New"/>
                <a:sym typeface="Courier New"/>
              </a:rPr>
              <a:t>tcp_dst=5002</a:t>
            </a:r>
            <a:endParaRPr sz="1100">
              <a:solidFill>
                <a:srgbClr val="5A65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5A6570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Applies </a:t>
            </a:r>
            <a:r>
              <a:rPr b="1" lang="en-US" sz="1100">
                <a:solidFill>
                  <a:srgbClr val="21295C"/>
                </a:solidFill>
                <a:latin typeface="Courier New"/>
                <a:ea typeface="Courier New"/>
                <a:cs typeface="Courier New"/>
                <a:sym typeface="Courier New"/>
              </a:rPr>
              <a:t>SET_QUEUE</a:t>
            </a:r>
            <a:r>
              <a:rPr lang="en-US" sz="1100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 and output actions dynamically as traffic arrives</a:t>
            </a:r>
            <a:endParaRPr sz="1100">
              <a:solidFill>
                <a:srgbClr val="5A65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QueueFlow  |  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499860" y="1691640"/>
            <a:ext cx="5143500" cy="4000500"/>
          </a:xfrm>
          <a:prstGeom prst="roundRect">
            <a:avLst>
              <a:gd fmla="val 1428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728460" y="1920240"/>
            <a:ext cx="114300" cy="114300"/>
          </a:xfrm>
          <a:prstGeom prst="ellipse">
            <a:avLst/>
          </a:prstGeom>
          <a:solidFill>
            <a:srgbClr val="FC5D5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6918960" y="1920240"/>
            <a:ext cx="114300" cy="114300"/>
          </a:xfrm>
          <a:prstGeom prst="ellipse">
            <a:avLst/>
          </a:prstGeom>
          <a:solidFill>
            <a:srgbClr val="FBBF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7109460" y="1920240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 txBox="1"/>
          <p:nvPr/>
        </p:nvSpPr>
        <p:spPr>
          <a:xfrm>
            <a:off x="7381875" y="188214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8FA6C4"/>
                </a:solidFill>
                <a:latin typeface="Courier New"/>
                <a:ea typeface="Courier New"/>
                <a:cs typeface="Courier New"/>
                <a:sym typeface="Courier New"/>
              </a:rPr>
              <a:t>qos_controller.py</a:t>
            </a:r>
            <a:endParaRPr b="1" sz="1100">
              <a:solidFill>
                <a:srgbClr val="8FA6C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21" name="Google Shape;221;p7"/>
          <p:cNvCxnSpPr/>
          <p:nvPr/>
        </p:nvCxnSpPr>
        <p:spPr>
          <a:xfrm>
            <a:off x="6499860" y="2167890"/>
            <a:ext cx="5143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2D37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7"/>
          <p:cNvSpPr txBox="1"/>
          <p:nvPr/>
        </p:nvSpPr>
        <p:spPr>
          <a:xfrm>
            <a:off x="6785610" y="2406015"/>
            <a:ext cx="45720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50">
                <a:solidFill>
                  <a:srgbClr val="5A6570"/>
                </a:solidFill>
                <a:latin typeface="Courier New"/>
                <a:ea typeface="Courier New"/>
                <a:cs typeface="Courier New"/>
                <a:sym typeface="Courier New"/>
              </a:rPr>
              <a:t># Define action list for matched QoS flow</a:t>
            </a:r>
            <a:endParaRPr i="1" sz="1350">
              <a:solidFill>
                <a:srgbClr val="5A657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actions = [</a:t>
            </a:r>
            <a:endParaRPr sz="135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EDBCB"/>
                </a:solidFill>
                <a:latin typeface="Courier New"/>
                <a:ea typeface="Courier New"/>
                <a:cs typeface="Courier New"/>
                <a:sym typeface="Courier New"/>
              </a:rPr>
              <a:t>OFPActionSetQueue(queue_id),</a:t>
            </a:r>
            <a:endParaRPr sz="1350">
              <a:solidFill>
                <a:srgbClr val="9EDBC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EDBCB"/>
                </a:solidFill>
                <a:latin typeface="Courier New"/>
                <a:ea typeface="Courier New"/>
                <a:cs typeface="Courier New"/>
                <a:sym typeface="Courier New"/>
              </a:rPr>
              <a:t>OFPActionOutput(out_port)</a:t>
            </a:r>
            <a:endParaRPr sz="1350">
              <a:solidFill>
                <a:srgbClr val="9EDBC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35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QoS Policy Configuration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Two-layer queue mechanism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548640" y="1691640"/>
            <a:ext cx="5669280" cy="868680"/>
          </a:xfrm>
          <a:prstGeom prst="roundRect">
            <a:avLst>
              <a:gd fmla="val 6316" name="adj"/>
            </a:avLst>
          </a:prstGeom>
          <a:solidFill>
            <a:srgbClr val="F4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548640" y="1691640"/>
            <a:ext cx="73152" cy="868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777240" y="176479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Layer 1 — OVS / kernel (setup_queues.sh)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777240" y="2075688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Creates HTB queues on the bottleneck port s1-eth3, with real rate limits enforced by Linux tc.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48640" y="2697480"/>
            <a:ext cx="5669280" cy="868680"/>
          </a:xfrm>
          <a:prstGeom prst="roundRect">
            <a:avLst>
              <a:gd fmla="val 6316" name="adj"/>
            </a:avLst>
          </a:prstGeom>
          <a:solidFill>
            <a:srgbClr val="F4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548640" y="2697480"/>
            <a:ext cx="73152" cy="868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777240" y="277063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Layer 2 — Controller (qos_controller.py)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777240" y="3081528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A flow rule's SET_QUEUE action routes matched packets into the correct queue at runtime.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Configured queue rates (10 Mbps link)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48640" y="4251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Queue 0 — priority (video)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548640" y="4553712"/>
            <a:ext cx="4937760" cy="25603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548640" y="4553712"/>
            <a:ext cx="4443984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5623560" y="45262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6–9 Mbps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48640" y="4937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Queue 1 — capped (bulk)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548640" y="5239512"/>
            <a:ext cx="4937760" cy="25603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548640" y="5239512"/>
            <a:ext cx="98755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5623560" y="52120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0.5–2 Mbps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519672" y="1691640"/>
            <a:ext cx="51206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Design rationale: reserve generous headroom above the video call's actual 3 Mbps need, then deliberately squeeze bulk traffic well below the raw link capacity so the enforcement effect is clearly measurable.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519672" y="3611880"/>
            <a:ext cx="5120640" cy="2331720"/>
          </a:xfrm>
          <a:prstGeom prst="roundRect">
            <a:avLst>
              <a:gd fmla="val 2353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6720840" y="3749040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EDBC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EDBCB"/>
                </a:solidFill>
                <a:latin typeface="Courier New"/>
                <a:ea typeface="Courier New"/>
                <a:cs typeface="Courier New"/>
                <a:sym typeface="Courier New"/>
              </a:rPr>
              <a:t>ovs-vsctl set port s1-eth3 qos=@newqos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EDBC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EDBCB"/>
                </a:solidFill>
                <a:latin typeface="Courier New"/>
                <a:ea typeface="Courier New"/>
                <a:cs typeface="Courier New"/>
                <a:sym typeface="Courier New"/>
              </a:rPr>
              <a:t>-- --id=@newqos create qos type=linux-htb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EDBC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EDBCB"/>
                </a:solidFill>
                <a:latin typeface="Courier New"/>
                <a:ea typeface="Courier New"/>
                <a:cs typeface="Courier New"/>
                <a:sym typeface="Courier New"/>
              </a:rPr>
              <a:t>     other-config:max-rate=10000000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EDBC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EDBCB"/>
                </a:solidFill>
                <a:latin typeface="Courier New"/>
                <a:ea typeface="Courier New"/>
                <a:cs typeface="Courier New"/>
                <a:sym typeface="Courier New"/>
              </a:rPr>
              <a:t>     queues=0=@q0,1=@q1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EDBC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EDBCB"/>
                </a:solidFill>
                <a:latin typeface="Courier New"/>
                <a:ea typeface="Courier New"/>
                <a:cs typeface="Courier New"/>
                <a:sym typeface="Courier New"/>
              </a:rPr>
              <a:t>-- --id=@q0 create queue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EDBC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EDBCB"/>
                </a:solidFill>
                <a:latin typeface="Courier New"/>
                <a:ea typeface="Courier New"/>
                <a:cs typeface="Courier New"/>
                <a:sym typeface="Courier New"/>
              </a:rPr>
              <a:t>     other-config:max-rate=9000000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EDBC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EDBCB"/>
                </a:solidFill>
                <a:latin typeface="Courier New"/>
                <a:ea typeface="Courier New"/>
                <a:cs typeface="Courier New"/>
                <a:sym typeface="Courier New"/>
              </a:rPr>
              <a:t>-- --id=@q1 create queue 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EDBC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EDBCB"/>
                </a:solidFill>
                <a:latin typeface="Courier New"/>
                <a:ea typeface="Courier New"/>
                <a:cs typeface="Courier New"/>
                <a:sym typeface="Courier New"/>
              </a:rPr>
              <a:t>     other-config:max-rate=2000000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QueueFlow  |  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Traffic Monitoring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199" y="1461849"/>
            <a:ext cx="11146866" cy="237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9"/>
          <p:cNvSpPr txBox="1"/>
          <p:nvPr/>
        </p:nvSpPr>
        <p:spPr>
          <a:xfrm>
            <a:off x="496375" y="1153250"/>
            <a:ext cx="36081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Before queue setup : </a:t>
            </a:r>
            <a:endParaRPr/>
          </a:p>
        </p:txBody>
      </p:sp>
      <p:sp>
        <p:nvSpPr>
          <p:cNvPr id="259" name="Google Shape;259;p9"/>
          <p:cNvSpPr txBox="1"/>
          <p:nvPr/>
        </p:nvSpPr>
        <p:spPr>
          <a:xfrm>
            <a:off x="496375" y="3837775"/>
            <a:ext cx="36081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After queue setup : </a:t>
            </a:r>
            <a:endParaRPr/>
          </a:p>
        </p:txBody>
      </p:sp>
      <p:pic>
        <p:nvPicPr>
          <p:cNvPr id="260" name="Google Shape;26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4245750"/>
            <a:ext cx="11146874" cy="2375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10"/>
          <p:cNvGrpSpPr/>
          <p:nvPr/>
        </p:nvGrpSpPr>
        <p:grpSpPr>
          <a:xfrm>
            <a:off x="548640" y="365760"/>
            <a:ext cx="11064300" cy="640200"/>
            <a:chOff x="0" y="0"/>
            <a:chExt cx="11064300" cy="640200"/>
          </a:xfrm>
        </p:grpSpPr>
        <p:sp>
          <p:nvSpPr>
            <p:cNvPr id="267" name="Google Shape;267;p10"/>
            <p:cNvSpPr/>
            <p:nvPr/>
          </p:nvSpPr>
          <p:spPr>
            <a:xfrm>
              <a:off x="0" y="0"/>
              <a:ext cx="11064300" cy="64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0"/>
            <p:cNvSpPr txBox="1"/>
            <p:nvPr/>
          </p:nvSpPr>
          <p:spPr>
            <a:xfrm>
              <a:off x="0" y="0"/>
              <a:ext cx="110643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21295C"/>
                  </a:solidFill>
                  <a:latin typeface="Cambria"/>
                  <a:ea typeface="Cambria"/>
                  <a:cs typeface="Cambria"/>
                  <a:sym typeface="Cambria"/>
                </a:rPr>
                <a:t>Performance Analysis — Raw Traffic Data (Before Qos)</a:t>
              </a:r>
              <a:endParaRPr b="1" sz="30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69" name="Google Shape;269;p10"/>
          <p:cNvGrpSpPr/>
          <p:nvPr/>
        </p:nvGrpSpPr>
        <p:grpSpPr>
          <a:xfrm>
            <a:off x="548640" y="1143000"/>
            <a:ext cx="5238900" cy="5048400"/>
            <a:chOff x="0" y="0"/>
            <a:chExt cx="5238900" cy="5048400"/>
          </a:xfrm>
        </p:grpSpPr>
        <p:sp>
          <p:nvSpPr>
            <p:cNvPr id="270" name="Google Shape;270;p10"/>
            <p:cNvSpPr/>
            <p:nvPr/>
          </p:nvSpPr>
          <p:spPr>
            <a:xfrm>
              <a:off x="0" y="0"/>
              <a:ext cx="5238900" cy="5048400"/>
            </a:xfrm>
            <a:prstGeom prst="roundRect">
              <a:avLst>
                <a:gd fmla="val 1509" name="adj"/>
              </a:avLst>
            </a:prstGeom>
            <a:solidFill>
              <a:srgbClr val="FFFFFF"/>
            </a:solidFill>
            <a:ln cap="flat" cmpd="sng" w="14300">
              <a:solidFill>
                <a:srgbClr val="D8E1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0"/>
            <p:cNvSpPr/>
            <p:nvPr/>
          </p:nvSpPr>
          <p:spPr>
            <a:xfrm>
              <a:off x="0" y="0"/>
              <a:ext cx="5238900" cy="381000"/>
            </a:xfrm>
            <a:prstGeom prst="roundRect">
              <a:avLst>
                <a:gd fmla="val 20000" name="adj"/>
              </a:avLst>
            </a:prstGeom>
            <a:solidFill>
              <a:srgbClr val="2129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0"/>
            <p:cNvSpPr/>
            <p:nvPr/>
          </p:nvSpPr>
          <p:spPr>
            <a:xfrm>
              <a:off x="0" y="190500"/>
              <a:ext cx="5238900" cy="190500"/>
            </a:xfrm>
            <a:prstGeom prst="rect">
              <a:avLst/>
            </a:prstGeom>
            <a:solidFill>
              <a:srgbClr val="2129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285750" y="133350"/>
              <a:ext cx="114300" cy="1143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438150" y="133350"/>
              <a:ext cx="114300" cy="114300"/>
            </a:xfrm>
            <a:prstGeom prst="ellipse">
              <a:avLst/>
            </a:prstGeom>
            <a:solidFill>
              <a:srgbClr val="1E8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0"/>
            <p:cNvSpPr txBox="1"/>
            <p:nvPr/>
          </p:nvSpPr>
          <p:spPr>
            <a:xfrm>
              <a:off x="666750" y="0"/>
              <a:ext cx="438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UDP Data Stream (iperf3 client)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7" name="Google Shape;277;p10"/>
          <p:cNvPicPr preferRelativeResize="0"/>
          <p:nvPr/>
        </p:nvPicPr>
        <p:blipFill rotWithShape="1">
          <a:blip r:embed="rId3">
            <a:alphaModFix/>
          </a:blip>
          <a:srcRect b="11083" l="0" r="0" t="11083"/>
          <a:stretch/>
        </p:blipFill>
        <p:spPr>
          <a:xfrm>
            <a:off x="758190" y="1666875"/>
            <a:ext cx="4819800" cy="438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8" name="Google Shape;278;p10"/>
          <p:cNvGrpSpPr/>
          <p:nvPr/>
        </p:nvGrpSpPr>
        <p:grpSpPr>
          <a:xfrm>
            <a:off x="6404610" y="1143000"/>
            <a:ext cx="5238900" cy="5048400"/>
            <a:chOff x="0" y="0"/>
            <a:chExt cx="5238900" cy="5048400"/>
          </a:xfrm>
        </p:grpSpPr>
        <p:sp>
          <p:nvSpPr>
            <p:cNvPr id="279" name="Google Shape;279;p10"/>
            <p:cNvSpPr/>
            <p:nvPr/>
          </p:nvSpPr>
          <p:spPr>
            <a:xfrm>
              <a:off x="0" y="0"/>
              <a:ext cx="5238900" cy="5048400"/>
            </a:xfrm>
            <a:prstGeom prst="roundRect">
              <a:avLst>
                <a:gd fmla="val 1509" name="adj"/>
              </a:avLst>
            </a:prstGeom>
            <a:solidFill>
              <a:srgbClr val="FFFFFF"/>
            </a:solidFill>
            <a:ln cap="flat" cmpd="sng" w="14300">
              <a:solidFill>
                <a:srgbClr val="D8E1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0"/>
            <p:cNvSpPr/>
            <p:nvPr/>
          </p:nvSpPr>
          <p:spPr>
            <a:xfrm>
              <a:off x="0" y="0"/>
              <a:ext cx="5238900" cy="381000"/>
            </a:xfrm>
            <a:prstGeom prst="roundRect">
              <a:avLst>
                <a:gd fmla="val 20000" name="adj"/>
              </a:avLst>
            </a:prstGeom>
            <a:solidFill>
              <a:srgbClr val="2129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0"/>
            <p:cNvSpPr/>
            <p:nvPr/>
          </p:nvSpPr>
          <p:spPr>
            <a:xfrm>
              <a:off x="0" y="190500"/>
              <a:ext cx="5238900" cy="190500"/>
            </a:xfrm>
            <a:prstGeom prst="rect">
              <a:avLst/>
            </a:prstGeom>
            <a:solidFill>
              <a:srgbClr val="2129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0"/>
            <p:cNvSpPr/>
            <p:nvPr/>
          </p:nvSpPr>
          <p:spPr>
            <a:xfrm>
              <a:off x="285750" y="133350"/>
              <a:ext cx="114300" cy="1143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0"/>
            <p:cNvSpPr/>
            <p:nvPr/>
          </p:nvSpPr>
          <p:spPr>
            <a:xfrm>
              <a:off x="438150" y="133350"/>
              <a:ext cx="114300" cy="114300"/>
            </a:xfrm>
            <a:prstGeom prst="ellipse">
              <a:avLst/>
            </a:prstGeom>
            <a:solidFill>
              <a:srgbClr val="1E8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0"/>
            <p:cNvSpPr txBox="1"/>
            <p:nvPr/>
          </p:nvSpPr>
          <p:spPr>
            <a:xfrm>
              <a:off x="666750" y="0"/>
              <a:ext cx="438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TCP Data Stream (iperf3 client)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6" name="Google Shape;286;p10"/>
          <p:cNvPicPr preferRelativeResize="0"/>
          <p:nvPr/>
        </p:nvPicPr>
        <p:blipFill rotWithShape="1">
          <a:blip r:embed="rId4">
            <a:alphaModFix/>
          </a:blip>
          <a:srcRect b="11083" l="0" r="0" t="11083"/>
          <a:stretch/>
        </p:blipFill>
        <p:spPr>
          <a:xfrm>
            <a:off x="6614160" y="1666875"/>
            <a:ext cx="4819800" cy="438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7" name="Google Shape;287;p10"/>
          <p:cNvGrpSpPr/>
          <p:nvPr/>
        </p:nvGrpSpPr>
        <p:grpSpPr>
          <a:xfrm>
            <a:off x="457200" y="6537960"/>
            <a:ext cx="5486400" cy="274200"/>
            <a:chOff x="0" y="0"/>
            <a:chExt cx="5486400" cy="274200"/>
          </a:xfrm>
        </p:grpSpPr>
        <p:sp>
          <p:nvSpPr>
            <p:cNvPr id="288" name="Google Shape;288;p10"/>
            <p:cNvSpPr/>
            <p:nvPr/>
          </p:nvSpPr>
          <p:spPr>
            <a:xfrm>
              <a:off x="0" y="0"/>
              <a:ext cx="54864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0"/>
            <p:cNvSpPr txBox="1"/>
            <p:nvPr/>
          </p:nvSpPr>
          <p:spPr>
            <a:xfrm>
              <a:off x="0" y="0"/>
              <a:ext cx="5486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5A6570"/>
                  </a:solidFill>
                  <a:latin typeface="Calibri"/>
                  <a:ea typeface="Calibri"/>
                  <a:cs typeface="Calibri"/>
                  <a:sym typeface="Calibri"/>
                </a:rPr>
                <a:t>QueueFlow | 08</a:t>
              </a:r>
              <a:endParaRPr b="0" sz="900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p11"/>
          <p:cNvGrpSpPr/>
          <p:nvPr/>
        </p:nvGrpSpPr>
        <p:grpSpPr>
          <a:xfrm>
            <a:off x="548640" y="365760"/>
            <a:ext cx="11064300" cy="640200"/>
            <a:chOff x="0" y="0"/>
            <a:chExt cx="11064300" cy="640200"/>
          </a:xfrm>
        </p:grpSpPr>
        <p:sp>
          <p:nvSpPr>
            <p:cNvPr id="296" name="Google Shape;296;p11"/>
            <p:cNvSpPr/>
            <p:nvPr/>
          </p:nvSpPr>
          <p:spPr>
            <a:xfrm>
              <a:off x="0" y="0"/>
              <a:ext cx="11064300" cy="64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1"/>
            <p:cNvSpPr txBox="1"/>
            <p:nvPr/>
          </p:nvSpPr>
          <p:spPr>
            <a:xfrm>
              <a:off x="0" y="0"/>
              <a:ext cx="110643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>
                  <a:solidFill>
                    <a:srgbClr val="21295C"/>
                  </a:solidFill>
                  <a:latin typeface="Cambria"/>
                  <a:ea typeface="Cambria"/>
                  <a:cs typeface="Cambria"/>
                  <a:sym typeface="Cambria"/>
                </a:rPr>
                <a:t>Performance Analysis — Raw Traffic Data (After QoS)</a:t>
              </a:r>
              <a:endParaRPr b="1" i="0" sz="30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98" name="Google Shape;298;p11"/>
          <p:cNvGrpSpPr/>
          <p:nvPr/>
        </p:nvGrpSpPr>
        <p:grpSpPr>
          <a:xfrm>
            <a:off x="548650" y="1143000"/>
            <a:ext cx="5238900" cy="5394720"/>
            <a:chOff x="0" y="0"/>
            <a:chExt cx="5238900" cy="5048400"/>
          </a:xfrm>
        </p:grpSpPr>
        <p:sp>
          <p:nvSpPr>
            <p:cNvPr id="299" name="Google Shape;299;p11"/>
            <p:cNvSpPr/>
            <p:nvPr/>
          </p:nvSpPr>
          <p:spPr>
            <a:xfrm>
              <a:off x="0" y="0"/>
              <a:ext cx="5238900" cy="5048400"/>
            </a:xfrm>
            <a:prstGeom prst="roundRect">
              <a:avLst>
                <a:gd fmla="val 1509" name="adj"/>
              </a:avLst>
            </a:prstGeom>
            <a:solidFill>
              <a:srgbClr val="FFFFFF"/>
            </a:solidFill>
            <a:ln cap="flat" cmpd="sng" w="14300">
              <a:solidFill>
                <a:srgbClr val="D8E1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0" y="0"/>
              <a:ext cx="5238900" cy="381000"/>
            </a:xfrm>
            <a:prstGeom prst="roundRect">
              <a:avLst>
                <a:gd fmla="val 20000" name="adj"/>
              </a:avLst>
            </a:prstGeom>
            <a:solidFill>
              <a:srgbClr val="2129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0" y="190500"/>
              <a:ext cx="5238900" cy="190500"/>
            </a:xfrm>
            <a:prstGeom prst="rect">
              <a:avLst/>
            </a:prstGeom>
            <a:solidFill>
              <a:srgbClr val="2129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285750" y="133350"/>
              <a:ext cx="114300" cy="1143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38150" y="133350"/>
              <a:ext cx="114300" cy="114300"/>
            </a:xfrm>
            <a:prstGeom prst="ellipse">
              <a:avLst/>
            </a:prstGeom>
            <a:solidFill>
              <a:srgbClr val="1E8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 txBox="1"/>
            <p:nvPr/>
          </p:nvSpPr>
          <p:spPr>
            <a:xfrm>
              <a:off x="666750" y="0"/>
              <a:ext cx="438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UDP Data Stream (iperf3 client)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6" name="Google Shape;306;p11"/>
          <p:cNvGrpSpPr/>
          <p:nvPr/>
        </p:nvGrpSpPr>
        <p:grpSpPr>
          <a:xfrm>
            <a:off x="6404600" y="1143000"/>
            <a:ext cx="5238900" cy="5533046"/>
            <a:chOff x="0" y="0"/>
            <a:chExt cx="5238900" cy="5048400"/>
          </a:xfrm>
        </p:grpSpPr>
        <p:sp>
          <p:nvSpPr>
            <p:cNvPr id="307" name="Google Shape;307;p11"/>
            <p:cNvSpPr/>
            <p:nvPr/>
          </p:nvSpPr>
          <p:spPr>
            <a:xfrm>
              <a:off x="0" y="0"/>
              <a:ext cx="5238900" cy="5048400"/>
            </a:xfrm>
            <a:prstGeom prst="roundRect">
              <a:avLst>
                <a:gd fmla="val 1509" name="adj"/>
              </a:avLst>
            </a:prstGeom>
            <a:solidFill>
              <a:srgbClr val="FFFFFF"/>
            </a:solidFill>
            <a:ln cap="flat" cmpd="sng" w="14300">
              <a:solidFill>
                <a:srgbClr val="D8E1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>
              <a:off x="0" y="0"/>
              <a:ext cx="5238900" cy="381000"/>
            </a:xfrm>
            <a:prstGeom prst="roundRect">
              <a:avLst>
                <a:gd fmla="val 20000" name="adj"/>
              </a:avLst>
            </a:prstGeom>
            <a:solidFill>
              <a:srgbClr val="2129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0" y="190500"/>
              <a:ext cx="5238900" cy="190500"/>
            </a:xfrm>
            <a:prstGeom prst="rect">
              <a:avLst/>
            </a:prstGeom>
            <a:solidFill>
              <a:srgbClr val="2129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1"/>
            <p:cNvSpPr/>
            <p:nvPr/>
          </p:nvSpPr>
          <p:spPr>
            <a:xfrm>
              <a:off x="285750" y="133350"/>
              <a:ext cx="114300" cy="1143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1"/>
            <p:cNvSpPr/>
            <p:nvPr/>
          </p:nvSpPr>
          <p:spPr>
            <a:xfrm>
              <a:off x="438150" y="133350"/>
              <a:ext cx="114300" cy="114300"/>
            </a:xfrm>
            <a:prstGeom prst="ellipse">
              <a:avLst/>
            </a:prstGeom>
            <a:solidFill>
              <a:srgbClr val="1E8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 txBox="1"/>
            <p:nvPr/>
          </p:nvSpPr>
          <p:spPr>
            <a:xfrm>
              <a:off x="666750" y="0"/>
              <a:ext cx="438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TCP Data Stream (iperf3 client)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p11"/>
          <p:cNvSpPr txBox="1"/>
          <p:nvPr/>
        </p:nvSpPr>
        <p:spPr>
          <a:xfrm>
            <a:off x="457200" y="653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QueueFlow | 10</a:t>
            </a:r>
            <a:endParaRPr sz="900">
              <a:solidFill>
                <a:srgbClr val="5A65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5325" y="1575413"/>
            <a:ext cx="4819650" cy="49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1575425"/>
            <a:ext cx="4819650" cy="49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Performance Analysis — Before vs. After QoS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3" name="Google Shape;323;p12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{7C072BCF-561A-42BA-98D9-2EAD10DEEFB6}</a:tableStyleId>
              </a:tblPr>
              <a:tblGrid>
                <a:gridCol w="3688075"/>
                <a:gridCol w="3688075"/>
                <a:gridCol w="3688075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QoS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QoS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8A5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UDP jitter (video)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-US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691</a:t>
                      </a: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r>
                        <a:rPr lang="en-US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UDP packet loss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</a:t>
                      </a: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/ 7770  (1.1%)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/ 7770  (0%)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TCP throughput (bulk)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</a:t>
                      </a:r>
                      <a:r>
                        <a:rPr lang="en-US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en-US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Mbps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~1.9 Mbps (capped)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TCP retransmissions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r>
                        <a:rPr lang="en-US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E1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4" name="Google Shape;324;p12"/>
          <p:cNvSpPr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Every metric moved in the expected direction, and the after-QoS values land almost exactly on the configured queue rates — strong evidence the mechanism works as designed.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548640" y="4892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Validated with two independent 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548640" y="5349240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777240" y="5266944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iperf3 — endpoint throughput / jitter / loss statistics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48640" y="5733288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777240" y="565099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Wireshark — on-the-wire packet capture and I/O graphs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QueueFlow  |  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Performance Analysis — Charts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34440"/>
            <a:ext cx="365760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234440"/>
            <a:ext cx="365760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160" y="1234440"/>
            <a:ext cx="365760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3280" y="3977640"/>
            <a:ext cx="5486400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QueueFlow  | 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"/>
          <p:cNvSpPr/>
          <p:nvPr/>
        </p:nvSpPr>
        <p:spPr>
          <a:xfrm>
            <a:off x="822960" y="7315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822960" y="16459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SDN-based QoS enforcement successfully protected latency-sensitive traffic from being degraded by competing bulk traffic — validated through two independent measurement methods, both showing consistent results.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822960" y="2880360"/>
            <a:ext cx="128016" cy="12801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1143000" y="2761488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Centralized control (RYU) enabled consistent, instantly-updatable policy across the network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822960" y="3566160"/>
            <a:ext cx="128016" cy="12801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1143000" y="3447288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Two-layer queue mechanism (OVS/HTB + OpenFlow SET_QUEUE) enforced both priority and rate limits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822960" y="4251960"/>
            <a:ext cx="128016" cy="12801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1143000" y="4133088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flow: jitter dropped from 0.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691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ms → 0.05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ms, loss from 1.1% → 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822960" y="4937760"/>
            <a:ext cx="128016" cy="12801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1143000" y="4818888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Bulk flow: reliably capped at the configured ~2 Mbps ceiling, retransmissions eliminated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5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570"/>
                </a:solidFill>
                <a:latin typeface="Calibri"/>
                <a:ea typeface="Calibri"/>
                <a:cs typeface="Calibri"/>
                <a:sym typeface="Calibri"/>
              </a:rPr>
              <a:t>QueueFlow  | 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"/>
          <p:cNvSpPr/>
          <p:nvPr/>
        </p:nvSpPr>
        <p:spPr>
          <a:xfrm>
            <a:off x="822960" y="2743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822960" y="35661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822960" y="3520440"/>
            <a:ext cx="457200" cy="274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